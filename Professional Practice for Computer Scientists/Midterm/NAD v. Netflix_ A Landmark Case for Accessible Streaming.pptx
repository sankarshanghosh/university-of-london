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6958e30fc0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6958e30fc0_2_7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6958e30f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6958e30fc0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6958e30fc0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6958e30fc0_2_8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6958e30fc0_2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6958e30fc0_2_8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6958e30fc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6958e30fc0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6958e30fc0_2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6958e30fc0_2_9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6958e30fc0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6958e30fc0_2_9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6958e30fc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6958e30fc0_0_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6958e30fc0_2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6958e30fc0_2_10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6958e30fc0_2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6958e30fc0_2_10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722313" y="3305175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722313" y="2180035"/>
            <a:ext cx="77724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457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48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457200" y="1151335"/>
            <a:ext cx="40401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457200" y="1631156"/>
            <a:ext cx="40401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45025" y="1151335"/>
            <a:ext cx="40419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45025" y="1631156"/>
            <a:ext cx="40419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457200" y="204788"/>
            <a:ext cx="30084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575050" y="204788"/>
            <a:ext cx="51117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57200" y="1076325"/>
            <a:ext cx="30084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792288" y="3600450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792288" y="4025504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874750" y="-1217400"/>
            <a:ext cx="33945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463750" y="1371629"/>
            <a:ext cx="43887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272750" y="-609572"/>
            <a:ext cx="43887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0000"/>
            </a:gs>
            <a:gs pos="100000">
              <a:srgbClr val="540303"/>
            </a:gs>
          </a:gsLst>
          <a:lin ang="5400012" scaled="0"/>
        </a:gra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ctr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NAD v. Netflix: A Landmark Case for Accessible Streaming</a:t>
            </a:r>
            <a:endParaRPr/>
          </a:p>
        </p:txBody>
      </p:sp>
      <p:sp>
        <p:nvSpPr>
          <p:cNvPr id="130" name="Google Shape;130;p25"/>
          <p:cNvSpPr txBox="1"/>
          <p:nvPr>
            <p:ph idx="1" type="subTitle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">
                <a:solidFill>
                  <a:schemeClr val="lt1"/>
                </a:solidFill>
              </a:rPr>
              <a:t>CM2045 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">
                <a:solidFill>
                  <a:schemeClr val="lt1"/>
                </a:solidFill>
              </a:rPr>
              <a:t>Midterm Case Study Presentation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0000"/>
            </a:gs>
            <a:gs pos="100000">
              <a:srgbClr val="540303"/>
            </a:gs>
          </a:gsLst>
          <a:lin ang="5400012" scaled="0"/>
        </a:gra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6" title="netflix_ui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1850" y="492475"/>
            <a:ext cx="6780298" cy="3915126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6" name="Google Shape;136;p26"/>
          <p:cNvSpPr txBox="1"/>
          <p:nvPr>
            <p:ph type="title"/>
          </p:nvPr>
        </p:nvSpPr>
        <p:spPr>
          <a:xfrm>
            <a:off x="3310650" y="4544850"/>
            <a:ext cx="25227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i="1" lang="en" sz="1000">
                <a:solidFill>
                  <a:schemeClr val="lt1"/>
                </a:solidFill>
              </a:rPr>
              <a:t>Img: Netflix 2011 UI</a:t>
            </a:r>
            <a:endParaRPr i="1" sz="1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0000"/>
            </a:gs>
            <a:gs pos="100000">
              <a:srgbClr val="540303"/>
            </a:gs>
          </a:gsLst>
          <a:lin ang="5400012" scaled="0"/>
        </a:gra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Background</a:t>
            </a:r>
            <a:endParaRPr/>
          </a:p>
        </p:txBody>
      </p:sp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143475" y="1232825"/>
            <a:ext cx="4114800" cy="33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281940" lvl="0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Netflix dominated streaming in 2011, but lacked closed captions on most content.</a:t>
            </a:r>
            <a:endParaRPr>
              <a:solidFill>
                <a:schemeClr val="lt1"/>
              </a:solidFill>
            </a:endParaRPr>
          </a:p>
          <a:p>
            <a:pPr indent="-28194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NAD (National Association of the Deaf) advocated for equal access.</a:t>
            </a:r>
            <a:endParaRPr>
              <a:solidFill>
                <a:schemeClr val="lt1"/>
              </a:solidFill>
            </a:endParaRPr>
          </a:p>
          <a:p>
            <a:pPr indent="-28194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Without captions, deaf users were excluded from digital media.</a:t>
            </a:r>
            <a:endParaRPr>
              <a:solidFill>
                <a:schemeClr val="lt1"/>
              </a:solidFill>
            </a:endParaRPr>
          </a:p>
          <a:p>
            <a:pPr indent="-28194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NAD filed a lawsuit under ADA Title III to compel change.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43" name="Google Shape;143;p27" title="high-angle-shot-gavel-lawsuit-papers-wooden-surfac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5175" y="1492878"/>
            <a:ext cx="4267203" cy="2844107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0000"/>
            </a:gs>
            <a:gs pos="100000">
              <a:srgbClr val="540303"/>
            </a:gs>
          </a:gsLst>
          <a:lin ang="5400012" scaled="0"/>
        </a:gra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What happened?</a:t>
            </a:r>
            <a:endParaRPr/>
          </a:p>
        </p:txBody>
      </p:sp>
      <p:pic>
        <p:nvPicPr>
          <p:cNvPr id="149" name="Google Shape;149;p28" title="Chronology of Event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5629"/>
            <a:ext cx="8839200" cy="3521234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0000"/>
            </a:gs>
            <a:gs pos="100000">
              <a:srgbClr val="540303"/>
            </a:gs>
          </a:gsLst>
          <a:lin ang="5400012" scaled="0"/>
        </a:gra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Legal Milestones (2011–2012)</a:t>
            </a:r>
            <a:endParaRPr/>
          </a:p>
        </p:txBody>
      </p:sp>
      <p:sp>
        <p:nvSpPr>
          <p:cNvPr id="155" name="Google Shape;155;p29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Jun 2011: NAD filed lawsuit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Nov 2011: Motion to dismiss denied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May 2012: DOJ backed NAD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Jun 2012: Court ruled ADA applies to web-only services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Oct 2012: Settlement required 100% captioning by 2014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0000"/>
            </a:gs>
            <a:gs pos="100000">
              <a:srgbClr val="540303"/>
            </a:gs>
          </a:gsLst>
          <a:lin ang="5400012" scaled="0"/>
        </a:gra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Accessibility and User Impact</a:t>
            </a:r>
            <a:endParaRPr/>
          </a:p>
        </p:txBody>
      </p:sp>
      <p:sp>
        <p:nvSpPr>
          <p:cNvPr id="161" name="Google Shape;161;p30"/>
          <p:cNvSpPr txBox="1"/>
          <p:nvPr>
            <p:ph idx="1" type="body"/>
          </p:nvPr>
        </p:nvSpPr>
        <p:spPr>
          <a:xfrm>
            <a:off x="1173025" y="3015524"/>
            <a:ext cx="8229600" cy="16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266700" lvl="0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Captions are essential for deaf and hard-of-hearing users.</a:t>
            </a:r>
            <a:endParaRPr>
              <a:solidFill>
                <a:schemeClr val="lt1"/>
              </a:solidFill>
            </a:endParaRPr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Lack of captions led to isolation and exclusion.</a:t>
            </a:r>
            <a:endParaRPr>
              <a:solidFill>
                <a:schemeClr val="lt1"/>
              </a:solidFill>
            </a:endParaRPr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Case raised awareness and drove industry-wide accessibility improvements.</a:t>
            </a:r>
            <a:endParaRPr>
              <a:solidFill>
                <a:schemeClr val="lt1"/>
              </a:solidFill>
            </a:endParaRPr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Netflix became a model for streaming caption compliance.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62" name="Google Shape;162;p30" title="Why Captions Matt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3012" y="1128575"/>
            <a:ext cx="6797974" cy="171845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0000"/>
            </a:gs>
            <a:gs pos="100000">
              <a:srgbClr val="540303"/>
            </a:gs>
          </a:gsLst>
          <a:lin ang="5400012" scaled="0"/>
        </a:gra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Court Decision and Lega</a:t>
            </a:r>
            <a:r>
              <a:rPr lang="en"/>
              <a:t>l </a:t>
            </a: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Significance</a:t>
            </a:r>
            <a:endParaRPr/>
          </a:p>
        </p:txBody>
      </p:sp>
      <p:sp>
        <p:nvSpPr>
          <p:cNvPr id="168" name="Google Shape;168;p31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ADA applies to digital-only services.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DOJ supported NAD's view.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Court rejected Netflix's arguments.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Precedent set for future web accessibility lawsuits.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0000"/>
            </a:gs>
            <a:gs pos="100000">
              <a:srgbClr val="540303"/>
            </a:gs>
          </a:gsLst>
          <a:lin ang="5400012" scaled="0"/>
        </a:gra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And the result?</a:t>
            </a:r>
            <a:endParaRPr/>
          </a:p>
        </p:txBody>
      </p:sp>
      <p:pic>
        <p:nvPicPr>
          <p:cNvPr id="174" name="Google Shape;174;p32" title="Bar Cha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8625" y="1024150"/>
            <a:ext cx="6086745" cy="3775323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0000"/>
            </a:gs>
            <a:gs pos="100000">
              <a:srgbClr val="540303"/>
            </a:gs>
          </a:gsLst>
          <a:lin ang="5400012" scaled="0"/>
        </a:gra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Lessons and Recommendations</a:t>
            </a:r>
            <a:endParaRPr/>
          </a:p>
        </p:txBody>
      </p:sp>
      <p:sp>
        <p:nvSpPr>
          <p:cNvPr id="180" name="Google Shape;180;p33"/>
          <p:cNvSpPr txBox="1"/>
          <p:nvPr>
            <p:ph idx="1" type="body"/>
          </p:nvPr>
        </p:nvSpPr>
        <p:spPr>
          <a:xfrm>
            <a:off x="165700" y="1165645"/>
            <a:ext cx="4114800" cy="3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281940" lvl="0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Accessibility is a civil right and legal requirement.</a:t>
            </a:r>
            <a:endParaRPr>
              <a:solidFill>
                <a:schemeClr val="lt1"/>
              </a:solidFill>
            </a:endParaRPr>
          </a:p>
          <a:p>
            <a:pPr indent="-28194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Captions should be standard from launch.</a:t>
            </a:r>
            <a:endParaRPr>
              <a:solidFill>
                <a:schemeClr val="lt1"/>
              </a:solidFill>
            </a:endParaRPr>
          </a:p>
          <a:p>
            <a:pPr indent="-28194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Collaborate with advocacy groups.</a:t>
            </a:r>
            <a:endParaRPr>
              <a:solidFill>
                <a:schemeClr val="lt1"/>
              </a:solidFill>
            </a:endParaRPr>
          </a:p>
          <a:p>
            <a:pPr indent="-28194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Design for all users – universal design improves UX.</a:t>
            </a:r>
            <a:endParaRPr>
              <a:solidFill>
                <a:schemeClr val="lt1"/>
              </a:solidFill>
            </a:endParaRPr>
          </a:p>
          <a:p>
            <a:pPr indent="-28194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Track accessibility and train development teams.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81" name="Google Shape;181;p33" title="istockphoto-1424987910-612x61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1279" y="1325353"/>
            <a:ext cx="4267201" cy="2851773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0000"/>
            </a:gs>
            <a:gs pos="100000">
              <a:srgbClr val="540303"/>
            </a:gs>
          </a:gsLst>
          <a:lin ang="5400012" scaled="0"/>
        </a:gra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4"/>
          <p:cNvSpPr txBox="1"/>
          <p:nvPr>
            <p:ph type="title"/>
          </p:nvPr>
        </p:nvSpPr>
        <p:spPr>
          <a:xfrm>
            <a:off x="457200" y="214312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